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one sentence on who you are, one on the wedge — AI-native claims engine for the most manual money flow in dry bulk. Amber italic text in brackets = placeholders to replace.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pain in money and time. The $5K single-event example lands well with operators.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 to stress: clause citations = transparency. Incumbent tools give a number; we give the argument behind the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demoing live, this slide is the map. Emphasize human-in-the-loop — that defuses the 'would you trust AI with a $125K claim?'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Accelerator audiences care about execution speed. Point out this was built by a small team on modern tooling — the same speed applies post-program.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defend the SAM: comparables are Veson (claims module), Marcura DA-Desk, Voyager Portal. Sizing placeholder until pilot pricing validates ACV.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tier is the demand-gen wedge (already built). Land with Pro seats on claims desks, expand to Enterprise via API integrations.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as complement-then-threat: incumbents own enterprise workflow; we own the claim itself — the artifact both sides argue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accelerators: the program period maps to the Q4 2026 column — pilots, form coverage, first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solo: own it. Working product solo is the strongest execution signal available. Cards 2–3 double as a hiring/advisor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mentor ask, not just the money — this deck's primary audience is the accelerator. The check size is a placeholder; sanity-check against program norms.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645920"/>
            <a:ext cx="4937760" cy="4937760"/>
          </a:xfrm>
          <a:prstGeom prst="ellipse">
            <a:avLst/>
          </a:prstGeom>
          <a:solidFill>
            <a:srgbClr val="2AA79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4206240" cy="4206240"/>
          </a:xfrm>
          <a:prstGeom prst="ellipse">
            <a:avLst/>
          </a:prstGeom>
          <a:solidFill>
            <a:srgbClr val="E8A33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96012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116220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48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A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PRE-SEED  ·  ACCELERATOR BRIEFING  ·  JULY 2026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51460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LayGrounded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laytime &amp; demurrage claims engine for dry bulk shipping.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4206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scanned Statement of Facts to a defensible, clause-cited claim — in minutes, not days.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[Founder Name]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pangegeorg@gmail.com   ·   laygrounded.com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LayGrounded —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Demurrage is a multi-billion-dollar spreadsheet problem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19856" cy="3063240"/>
          </a:xfrm>
          <a:prstGeom prst="roundRect">
            <a:avLst>
              <a:gd name="adj" fmla="val 2687"/>
            </a:avLst>
          </a:prstGeom>
          <a:solidFill>
            <a:srgbClr val="F3F6F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574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01" y="2204801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788920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$8–10B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14400" y="3520440"/>
            <a:ext cx="2871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demurrage fees change hands in dry bulk every year — most of it computed by hand in Excel.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79976" y="1783080"/>
            <a:ext cx="3419856" cy="3063240"/>
          </a:xfrm>
          <a:prstGeom prst="roundRect">
            <a:avLst>
              <a:gd name="adj" fmla="val 2687"/>
            </a:avLst>
          </a:prstGeom>
          <a:solidFill>
            <a:srgbClr val="F3F6FA"/>
          </a:solidFill>
          <a:ln/>
        </p:spPr>
      </p:sp>
      <p:sp>
        <p:nvSpPr>
          <p:cNvPr id="12" name="Shape 9"/>
          <p:cNvSpPr/>
          <p:nvPr/>
        </p:nvSpPr>
        <p:spPr>
          <a:xfrm>
            <a:off x="4654296" y="20574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697" y="2204801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54296" y="2788920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21–35 hrs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4654296" y="3520440"/>
            <a:ext cx="2871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skilled analyst time to process the claims of a single voyage after the vessel has sailed.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19872" y="1783080"/>
            <a:ext cx="3419856" cy="3063240"/>
          </a:xfrm>
          <a:prstGeom prst="roundRect">
            <a:avLst>
              <a:gd name="adj" fmla="val 2687"/>
            </a:avLst>
          </a:prstGeom>
          <a:solidFill>
            <a:srgbClr val="F3F6FA"/>
          </a:solidFill>
          <a:ln/>
        </p:spPr>
      </p:sp>
      <p:sp>
        <p:nvSpPr>
          <p:cNvPr id="17" name="Shape 13"/>
          <p:cNvSpPr/>
          <p:nvPr/>
        </p:nvSpPr>
        <p:spPr>
          <a:xfrm>
            <a:off x="8394192" y="2057400"/>
            <a:ext cx="566928" cy="566928"/>
          </a:xfrm>
          <a:prstGeom prst="ellipse">
            <a:avLst/>
          </a:prstGeom>
          <a:solidFill>
            <a:srgbClr val="2AA79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593" y="2204801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94192" y="2788920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$15K+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8394192" y="3520440"/>
            <a:ext cx="2871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from one missed SoF detail. A missed time bar kills the entire claim outright.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40080" y="5074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calculation error is money: </a:t>
            </a:r>
            <a:pPr indent="0" marL="0">
              <a:buNone/>
            </a:pPr>
            <a:r>
              <a:rPr lang="en-US" sz="14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miscategorised six-hour weather event on a $20,000/day vessel moves a claim by $5,000. Charterers and owners still resolve this with PDFs, spreadsheets, and email threads.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figures: Marcura and Voyager Portal analyses, 2025–26.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LayGrounded —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 in. Defensible claim out. Minutes, not days.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4160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LayGrounded reads the raw Statement of Facts, reconstructs the voyage hour by hour, and produces a demurrage or despatch claim where </a:t>
            </a:r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item is traceable to a charter-party clause.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black box. The math a claims analyst would defend in arbitration — computed automatically.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166360" y="1783080"/>
            <a:ext cx="6382512" cy="1298448"/>
          </a:xfrm>
          <a:prstGeom prst="roundRect">
            <a:avLst>
              <a:gd name="adj" fmla="val 5634"/>
            </a:avLst>
          </a:prstGeom>
          <a:solidFill>
            <a:srgbClr val="F3F6FA"/>
          </a:solidFill>
          <a:ln/>
        </p:spPr>
      </p:sp>
      <p:sp>
        <p:nvSpPr>
          <p:cNvPr id="9" name="Shape 7"/>
          <p:cNvSpPr/>
          <p:nvPr/>
        </p:nvSpPr>
        <p:spPr>
          <a:xfrm>
            <a:off x="5440680" y="214884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8081" y="2296241"/>
            <a:ext cx="272125" cy="2721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17920" y="1929384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SoF extraction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217920" y="2258568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Vision-language models parse scanned SoFs into structured events — with per-page retries, quality gates, and deterministic fallbacks.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166360" y="3264408"/>
            <a:ext cx="6382512" cy="1298448"/>
          </a:xfrm>
          <a:prstGeom prst="roundRect">
            <a:avLst>
              <a:gd name="adj" fmla="val 5634"/>
            </a:avLst>
          </a:prstGeom>
          <a:solidFill>
            <a:srgbClr val="F3F6FA"/>
          </a:solidFill>
          <a:ln/>
        </p:spPr>
      </p:sp>
      <p:sp>
        <p:nvSpPr>
          <p:cNvPr id="14" name="Shape 11"/>
          <p:cNvSpPr/>
          <p:nvPr/>
        </p:nvSpPr>
        <p:spPr>
          <a:xfrm>
            <a:off x="5440680" y="3630168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81" y="3777569"/>
            <a:ext cx="272125" cy="27212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17920" y="3410712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GENCON 94 rules engine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217920" y="3739896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Hour-by-hour laytime with clause citations: NOR validation, turn time, SHEX working-hour advancement, demurrage &amp; despatch totals.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166360" y="4745736"/>
            <a:ext cx="6382512" cy="1298448"/>
          </a:xfrm>
          <a:prstGeom prst="roundRect">
            <a:avLst>
              <a:gd name="adj" fmla="val 5634"/>
            </a:avLst>
          </a:prstGeom>
          <a:solidFill>
            <a:srgbClr val="F3F6FA"/>
          </a:solidFill>
          <a:ln/>
        </p:spPr>
      </p:sp>
      <p:sp>
        <p:nvSpPr>
          <p:cNvPr id="19" name="Shape 15"/>
          <p:cNvSpPr/>
          <p:nvPr/>
        </p:nvSpPr>
        <p:spPr>
          <a:xfrm>
            <a:off x="5440680" y="5111496"/>
            <a:ext cx="566928" cy="566928"/>
          </a:xfrm>
          <a:prstGeom prst="ellipse">
            <a:avLst/>
          </a:prstGeom>
          <a:solidFill>
            <a:srgbClr val="2AA79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81" y="5258897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0" y="489204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Ambiguity flagging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217920" y="5221224"/>
            <a:ext cx="5166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Contested events — NOR tendered at anchorage, shifting before all-fast — surfaced before your counterparty finds them.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LayGrounded —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 from paper to payment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615184" cy="3200400"/>
          </a:xfrm>
          <a:prstGeom prst="roundRect">
            <a:avLst>
              <a:gd name="adj" fmla="val 3147"/>
            </a:avLst>
          </a:prstGeom>
          <a:solidFill>
            <a:srgbClr val="F3F6F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1945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222199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283464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14400" y="3246120"/>
            <a:ext cx="2066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the Statement of Facts — scanned PDF, photo, any quality.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01568" y="1920240"/>
            <a:ext cx="2615184" cy="3200400"/>
          </a:xfrm>
          <a:prstGeom prst="roundRect">
            <a:avLst>
              <a:gd name="adj" fmla="val 3147"/>
            </a:avLst>
          </a:prstGeom>
          <a:solidFill>
            <a:srgbClr val="F3F6FA"/>
          </a:solidFill>
          <a:ln/>
        </p:spPr>
      </p:sp>
      <p:sp>
        <p:nvSpPr>
          <p:cNvPr id="13" name="Shape 10"/>
          <p:cNvSpPr/>
          <p:nvPr/>
        </p:nvSpPr>
        <p:spPr>
          <a:xfrm>
            <a:off x="3675888" y="21945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367588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22199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75888" y="283464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675888" y="3246120"/>
            <a:ext cx="2066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parses every event into a structured, editable timeline. Quality gates catch low-confidence pages.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63056" y="1920240"/>
            <a:ext cx="2615184" cy="3200400"/>
          </a:xfrm>
          <a:prstGeom prst="roundRect">
            <a:avLst>
              <a:gd name="adj" fmla="val 3147"/>
            </a:avLst>
          </a:prstGeom>
          <a:solidFill>
            <a:srgbClr val="F3F6FA"/>
          </a:solidFill>
          <a:ln/>
        </p:spPr>
      </p:sp>
      <p:sp>
        <p:nvSpPr>
          <p:cNvPr id="19" name="Shape 15"/>
          <p:cNvSpPr/>
          <p:nvPr/>
        </p:nvSpPr>
        <p:spPr>
          <a:xfrm>
            <a:off x="6437376" y="21945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6"/>
          <p:cNvSpPr/>
          <p:nvPr/>
        </p:nvSpPr>
        <p:spPr>
          <a:xfrm>
            <a:off x="643737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2221992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37376" y="283464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437376" y="3246120"/>
            <a:ext cx="2066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engine runs the charter party: laytime allowed vs. used, exceptions, interruptions, totals.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924544" y="1920240"/>
            <a:ext cx="2615184" cy="3200400"/>
          </a:xfrm>
          <a:prstGeom prst="roundRect">
            <a:avLst>
              <a:gd name="adj" fmla="val 3147"/>
            </a:avLst>
          </a:prstGeom>
          <a:solidFill>
            <a:srgbClr val="E7F4F2"/>
          </a:solidFill>
          <a:ln/>
        </p:spPr>
      </p:sp>
      <p:sp>
        <p:nvSpPr>
          <p:cNvPr id="25" name="Shape 20"/>
          <p:cNvSpPr/>
          <p:nvPr/>
        </p:nvSpPr>
        <p:spPr>
          <a:xfrm>
            <a:off x="9198864" y="21945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1"/>
          <p:cNvSpPr/>
          <p:nvPr/>
        </p:nvSpPr>
        <p:spPr>
          <a:xfrm>
            <a:off x="9198864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656" y="2221992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98864" y="283464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9198864" y="3246120"/>
            <a:ext cx="2066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with clause citations and flagged ambiguities — ready to send, export, or argue.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stays in control: </a:t>
            </a:r>
            <a:pPr indent="0" marL="0">
              <a:buNone/>
            </a:pPr>
            <a:r>
              <a:rPr lang="en-US" sz="13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extracted event is reviewable and editable before the numbers are final. AI does the drudgery; the expert signs off.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LayGrounded —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prototype — a working product</a:t>
            </a:r>
            <a:endParaRPr lang="en-US" sz="2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0195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8745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end-to-end pipeline: SoF upload → AI extraction → claim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15184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58775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GENCON 94 engine with automated test coverage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28416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330098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Ambiguous-clause flagging per standard trigger rules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41648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7280" y="4014216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auth, billing scaffolding, pricing tiers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754880"/>
            <a:ext cx="292608" cy="2926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97280" y="472744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today: Docker, Vercel, Supabase cloud</a:t>
            </a:r>
            <a:endParaRPr lang="en-US" sz="1400" dirty="0"/>
          </a:p>
        </p:txBody>
      </p:sp>
      <p:sp>
        <p:nvSpPr>
          <p:cNvPr id="16" name="Shape 9"/>
          <p:cNvSpPr/>
          <p:nvPr/>
        </p:nvSpPr>
        <p:spPr>
          <a:xfrm>
            <a:off x="6400800" y="1874520"/>
            <a:ext cx="5148072" cy="2651760"/>
          </a:xfrm>
          <a:prstGeom prst="roundRect">
            <a:avLst>
              <a:gd name="adj" fmla="val 3103"/>
            </a:avLst>
          </a:prstGeom>
          <a:solidFill>
            <a:srgbClr val="0B1F3A"/>
          </a:solidFill>
          <a:ln/>
        </p:spPr>
      </p:sp>
      <p:sp>
        <p:nvSpPr>
          <p:cNvPr id="17" name="Text 10"/>
          <p:cNvSpPr/>
          <p:nvPr/>
        </p:nvSpPr>
        <p:spPr>
          <a:xfrm>
            <a:off x="6400800" y="2834640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Product screenshot ]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6400800" y="3246120"/>
            <a:ext cx="5148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a capture of the claims timeline view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400800" y="4709160"/>
            <a:ext cx="5148072" cy="1234440"/>
          </a:xfrm>
          <a:prstGeom prst="roundRect">
            <a:avLst>
              <a:gd name="adj" fmla="val 6667"/>
            </a:avLst>
          </a:prstGeom>
          <a:solidFill>
            <a:srgbClr val="F3F6FA"/>
          </a:solidFill>
          <a:ln/>
        </p:spPr>
      </p:sp>
      <p:sp>
        <p:nvSpPr>
          <p:cNvPr id="20" name="Text 13"/>
          <p:cNvSpPr/>
          <p:nvPr/>
        </p:nvSpPr>
        <p:spPr>
          <a:xfrm>
            <a:off x="6675120" y="4892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6675120" y="519379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 16 · TypeScript · Supabase (Postgres + Auth) · Anthropic vision models · Tailwind / shadcn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LayGrounded —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focused wedge into a $168B industry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29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30428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$8–10B  </a:t>
            </a:r>
            <a:pPr indent="0" marL="0"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dry-bulk demurrage &amp; despatch flows our engine computes against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7315200" cy="960120"/>
          </a:xfrm>
          <a:prstGeom prst="roundRect">
            <a:avLst>
              <a:gd name="adj" fmla="val 7619"/>
            </a:avLst>
          </a:prstGeom>
          <a:solidFill>
            <a:srgbClr val="2AA79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644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53872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[$XXXM]  </a:t>
            </a:r>
            <a:pPr indent="0" marL="0">
              <a:buNone/>
            </a:pPr>
            <a:r>
              <a:rPr lang="en-US" sz="12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spend on laytime/claims software &amp; outsourced claims desks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4988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7731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[$XM]  </a:t>
            </a:r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target: small &amp; mid-size operators, brokers, trading desks on GENCON forms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</a:t>
            </a:r>
            <a:pPr indent="0" marL="0">
              <a:buNone/>
            </a:pPr>
            <a:r>
              <a:rPr lang="en-US" sz="13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bulk shipping was a $168.5B market in 2025, growing ~4.1% annually. Every voyage generates a laytime calculation — and most are still done by hand. </a:t>
            </a:r>
            <a:pPr indent="0" marL="0">
              <a:buNone/>
            </a:pPr>
            <a:r>
              <a:rPr lang="en-US" sz="13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[Refine SAM/SOM with pilot data]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LayGrounded —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pricing that maps to claim value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19856" cy="3246120"/>
          </a:xfrm>
          <a:prstGeom prst="roundRect">
            <a:avLst>
              <a:gd name="adj" fmla="val 2535"/>
            </a:avLst>
          </a:prstGeom>
          <a:solidFill>
            <a:srgbClr val="F3F6F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29626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calculations / month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user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GENCON 94 engine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9976" y="1828800"/>
            <a:ext cx="3419856" cy="3246120"/>
          </a:xfrm>
          <a:prstGeom prst="roundRect">
            <a:avLst>
              <a:gd name="adj" fmla="val 2535"/>
            </a:avLst>
          </a:prstGeom>
          <a:solidFill>
            <a:srgbClr val="E7F4F2"/>
          </a:solidFill>
          <a:ln/>
          <a:effectLst>
            <a:outerShdw sx="100000" sy="100000" kx="0" ky="0" algn="bl" rotWithShape="0" blurRad="101600" dist="25400" dir="5400000">
              <a:srgbClr val="9AB0C4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54296" y="205740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A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54296" y="237744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[$299]</a:t>
            </a:r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user / mo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54296" y="3063240"/>
            <a:ext cx="29626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claims &amp; AI extraction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flagging &amp; exports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9872" y="1828800"/>
            <a:ext cx="3419856" cy="3246120"/>
          </a:xfrm>
          <a:prstGeom prst="roundRect">
            <a:avLst>
              <a:gd name="adj" fmla="val 2535"/>
            </a:avLst>
          </a:prstGeom>
          <a:solidFill>
            <a:srgbClr val="F3F6FA"/>
          </a:solidFill>
          <a:ln/>
        </p:spPr>
      </p:sp>
      <p:sp>
        <p:nvSpPr>
          <p:cNvPr id="15" name="Text 13"/>
          <p:cNvSpPr/>
          <p:nvPr/>
        </p:nvSpPr>
        <p:spPr>
          <a:xfrm>
            <a:off x="8394192" y="205740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94192" y="2377440"/>
            <a:ext cx="2871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[Custom]</a:t>
            </a:r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394192" y="3063240"/>
            <a:ext cx="29626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integrations (VMS, ERP)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charter-party forms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SLA, SSO, audit trail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math: </a:t>
            </a:r>
            <a:pPr indent="0" marL="0">
              <a:buNone/>
            </a:pPr>
            <a:r>
              <a:rPr lang="en-US" sz="13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prevented $5,000 calculation error pays for a Pro seat for over a year. Pricing anchors to avoided leakage, not software budgets. </a:t>
            </a:r>
            <a:pPr indent="0" marL="0">
              <a:buNone/>
            </a:pPr>
            <a:r>
              <a:rPr lang="en-US" sz="13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[Placeholder pricing — validate in pilots]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LayGrounded —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win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257800" cy="3977640"/>
          </a:xfrm>
          <a:prstGeom prst="roundRect">
            <a:avLst>
              <a:gd name="adj" fmla="val 2069"/>
            </a:avLst>
          </a:prstGeom>
          <a:solidFill>
            <a:srgbClr val="F3F6F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INCUMBENTS &amp; STATUS QUO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3957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Veson · Marcura / DA-Desk · Voyager Portal · Excel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88036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Enterprise-priced, months-long onboarding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still heavily manual behind the scenes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arrive as numbers, not arguments — hard to defend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majors; mid-market runs on spreadsheets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285232" cy="3977640"/>
          </a:xfrm>
          <a:prstGeom prst="roundRect">
            <a:avLst>
              <a:gd name="adj" fmla="val 2069"/>
            </a:avLst>
          </a:prstGeom>
          <a:solidFill>
            <a:srgbClr val="0B1F3A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208483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2203704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78040" y="21762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LAYGROUNDED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0" y="288036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extraction from day one — scanned SoFs included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Clause-cited, hour-by-hour math you can take to arbitration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onboarding; first claim in under an hour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for the mid-market the incumbents ignore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LayGrounded —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TRACTION &amp;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next 18 months go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10424160" cy="0"/>
          </a:xfrm>
          <a:prstGeom prst="line">
            <a:avLst/>
          </a:prstGeom>
          <a:noFill/>
          <a:ln w="25400">
            <a:solidFill>
              <a:srgbClr val="C9D6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2039112"/>
            <a:ext cx="219456" cy="21945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7744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· Q3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2615184" cy="2788920"/>
          </a:xfrm>
          <a:prstGeom prst="roundRect">
            <a:avLst>
              <a:gd name="adj" fmla="val 2797"/>
            </a:avLst>
          </a:prstGeom>
          <a:solidFill>
            <a:srgbClr val="E7F4F2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926080"/>
            <a:ext cx="22494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product live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pilot conversations with operators &amp; brokers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claims processed end-to-end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20440" y="2039112"/>
            <a:ext cx="219456" cy="219456"/>
          </a:xfrm>
          <a:prstGeom prst="ellipse">
            <a:avLst/>
          </a:prstGeom>
          <a:solidFill>
            <a:srgbClr val="2AA79B"/>
          </a:solidFill>
          <a:ln/>
        </p:spPr>
      </p:sp>
      <p:sp>
        <p:nvSpPr>
          <p:cNvPr id="12" name="Text 10"/>
          <p:cNvSpPr/>
          <p:nvPr/>
        </p:nvSpPr>
        <p:spPr>
          <a:xfrm>
            <a:off x="3401568" y="237744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01568" y="2743200"/>
            <a:ext cx="2615184" cy="2788920"/>
          </a:xfrm>
          <a:prstGeom prst="roundRect">
            <a:avLst>
              <a:gd name="adj" fmla="val 2797"/>
            </a:avLst>
          </a:prstGeom>
          <a:solidFill>
            <a:srgbClr val="F3F6FA"/>
          </a:solidFill>
          <a:ln/>
        </p:spPr>
      </p:sp>
      <p:sp>
        <p:nvSpPr>
          <p:cNvPr id="14" name="Text 12"/>
          <p:cNvSpPr/>
          <p:nvPr/>
        </p:nvSpPr>
        <p:spPr>
          <a:xfrm>
            <a:off x="3602736" y="2926080"/>
            <a:ext cx="22494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[3–5] paying pilots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SHINC &amp; tanker charter forms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export to counterparty-ready PDF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81928" y="2039112"/>
            <a:ext cx="219456" cy="21945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6163056" y="237744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2027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63056" y="2743200"/>
            <a:ext cx="2615184" cy="2788920"/>
          </a:xfrm>
          <a:prstGeom prst="roundRect">
            <a:avLst>
              <a:gd name="adj" fmla="val 2797"/>
            </a:avLst>
          </a:prstGeom>
          <a:solidFill>
            <a:srgbClr val="F3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2926080"/>
            <a:ext cx="22494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/ agent integrations &amp; API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[$XXK] MRR target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Multi-voyage portfolio view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43416" y="2039112"/>
            <a:ext cx="219456" cy="21945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8924544" y="237744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 2027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24544" y="2743200"/>
            <a:ext cx="2615184" cy="2788920"/>
          </a:xfrm>
          <a:prstGeom prst="roundRect">
            <a:avLst>
              <a:gd name="adj" fmla="val 2797"/>
            </a:avLst>
          </a:prstGeom>
          <a:solidFill>
            <a:srgbClr val="F3F6FA"/>
          </a:solidFill>
          <a:ln/>
        </p:spPr>
      </p:sp>
      <p:sp>
        <p:nvSpPr>
          <p:cNvPr id="22" name="Text 20"/>
          <p:cNvSpPr/>
          <p:nvPr/>
        </p:nvSpPr>
        <p:spPr>
          <a:xfrm>
            <a:off x="9125712" y="2926080"/>
            <a:ext cx="22494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portfolio analytics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Time-bar monitoring &amp; alerts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on pilot evidence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58978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items are placeholders — update with live numbers before each meeting.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LayGrounded —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people who ship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19856" cy="3291840"/>
          </a:xfrm>
          <a:prstGeom prst="roundRect">
            <a:avLst>
              <a:gd name="adj" fmla="val 2500"/>
            </a:avLst>
          </a:prstGeom>
          <a:solidFill>
            <a:srgbClr val="F3F6F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103120"/>
            <a:ext cx="777240" cy="7772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[Founder Name]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401568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 &amp; CEO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3767328"/>
            <a:ext cx="2871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[1–2 lines: background, why this problem, relevant domain or technical credibility]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9976" y="1828800"/>
            <a:ext cx="3419856" cy="3291840"/>
          </a:xfrm>
          <a:prstGeom prst="roundRect">
            <a:avLst>
              <a:gd name="adj" fmla="val 2500"/>
            </a:avLst>
          </a:prstGeom>
          <a:solidFill>
            <a:srgbClr val="F3F6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54296" y="2103120"/>
            <a:ext cx="777240" cy="777240"/>
          </a:xfrm>
          <a:prstGeom prst="ellipse">
            <a:avLst/>
          </a:prstGeom>
          <a:solidFill>
            <a:srgbClr val="2AA79B"/>
          </a:solidFill>
          <a:ln/>
        </p:spPr>
      </p:sp>
      <p:sp>
        <p:nvSpPr>
          <p:cNvPr id="14" name="Text 12"/>
          <p:cNvSpPr/>
          <p:nvPr/>
        </p:nvSpPr>
        <p:spPr>
          <a:xfrm>
            <a:off x="4654296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54296" y="306324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[Advisor / Hire]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54296" y="3401568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[Chartering / Claims domain expert]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54296" y="3767328"/>
            <a:ext cx="2871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[Target profile: ex-claims desk lead or chartering manager at a dry bulk operator]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19872" y="1828800"/>
            <a:ext cx="3419856" cy="3291840"/>
          </a:xfrm>
          <a:prstGeom prst="roundRect">
            <a:avLst>
              <a:gd name="adj" fmla="val 2500"/>
            </a:avLst>
          </a:prstGeom>
          <a:solidFill>
            <a:srgbClr val="F3F6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394192" y="210312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8394192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94192" y="306324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[Advisor / Hire]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94192" y="3401568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[Commercial / GTM]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94192" y="3767328"/>
            <a:ext cx="2871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[Target profile: maritime SaaS sales or broker-network operator]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version: </a:t>
            </a:r>
            <a:pPr indent="0" marL="0">
              <a:buNone/>
            </a:pPr>
            <a:r>
              <a:rPr lang="en-US" sz="135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founder with a working product, looking for the domain and commercial firepower an accelerator network provides.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LayGrounded —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63447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058400" y="4389120"/>
            <a:ext cx="4023360" cy="4023360"/>
          </a:xfrm>
          <a:prstGeom prst="ellipse">
            <a:avLst/>
          </a:prstGeom>
          <a:solidFill>
            <a:srgbClr val="2AA79B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</a:t>
            </a:r>
            <a:pPr indent="0" marL="0">
              <a:buNone/>
            </a:pPr>
            <a:r>
              <a:rPr lang="en-US" sz="2700" b="1" i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[$400K]</a:t>
            </a:r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pre-seed to turn a working engine into a category product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AA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OF FUNDS  ·  [placeholder split]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AI — charter forms, integrations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79776"/>
            <a:ext cx="4937760" cy="201168"/>
          </a:xfrm>
          <a:prstGeom prst="roundRect">
            <a:avLst>
              <a:gd name="adj" fmla="val 22727"/>
            </a:avLst>
          </a:prstGeom>
          <a:solidFill>
            <a:srgbClr val="132B4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779776"/>
            <a:ext cx="2221992" cy="201168"/>
          </a:xfrm>
          <a:prstGeom prst="roundRect">
            <a:avLst>
              <a:gd name="adj" fmla="val 22727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2670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— pilots, broker network, first sales hire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557016"/>
            <a:ext cx="4937760" cy="201168"/>
          </a:xfrm>
          <a:prstGeom prst="roundRect">
            <a:avLst>
              <a:gd name="adj" fmla="val 22727"/>
            </a:avLst>
          </a:prstGeom>
          <a:solidFill>
            <a:srgbClr val="132B4E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557016"/>
            <a:ext cx="1728216" cy="201168"/>
          </a:xfrm>
          <a:prstGeom prst="roundRect">
            <a:avLst>
              <a:gd name="adj" fmla="val 22727"/>
            </a:avLst>
          </a:prstGeom>
          <a:solidFill>
            <a:srgbClr val="2AA79B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34472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runway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334256"/>
            <a:ext cx="4937760" cy="201168"/>
          </a:xfrm>
          <a:prstGeom prst="roundRect">
            <a:avLst>
              <a:gd name="adj" fmla="val 22727"/>
            </a:avLst>
          </a:prstGeom>
          <a:solidFill>
            <a:srgbClr val="132B4E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334256"/>
            <a:ext cx="987552" cy="201168"/>
          </a:xfrm>
          <a:prstGeom prst="roundRect">
            <a:avLst>
              <a:gd name="adj" fmla="val 22727"/>
            </a:avLst>
          </a:prstGeom>
          <a:solidFill>
            <a:srgbClr val="D7E3F4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42245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20840" y="2240280"/>
            <a:ext cx="4828032" cy="3063240"/>
          </a:xfrm>
          <a:prstGeom prst="roundRect">
            <a:avLst>
              <a:gd name="adj" fmla="val 2687"/>
            </a:avLst>
          </a:prstGeom>
          <a:solidFill>
            <a:srgbClr val="132B4E"/>
          </a:solidFill>
          <a:ln/>
        </p:spPr>
      </p:sp>
      <p:sp>
        <p:nvSpPr>
          <p:cNvPr id="21" name="Shape 19"/>
          <p:cNvSpPr/>
          <p:nvPr/>
        </p:nvSpPr>
        <p:spPr>
          <a:xfrm>
            <a:off x="7040880" y="25146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1639" y="2645359"/>
            <a:ext cx="241402" cy="24140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699248" y="2624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MENTORS &amp; THE PROGRAM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040880" y="324612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dry-bulk operators, brokers &amp; trading desks for pilots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chartering / claims-domain advisor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GTM pressure-testing against maritime SaaS comparables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4008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[Founder Name]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pangegeorg@gmail.com  ·  laygrounded.com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2026-07-11T14:35:51Z</dcterms:created>
  <dcterms:modified xsi:type="dcterms:W3CDTF">2026-07-11T14:35:51Z</dcterms:modified>
</cp:coreProperties>
</file>